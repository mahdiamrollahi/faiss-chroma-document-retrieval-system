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15"/>
  </p:notesMasterIdLst>
  <p:handoutMasterIdLst>
    <p:handoutMasterId r:id="rId16"/>
  </p:handoutMasterIdLst>
  <p:sldIdLst>
    <p:sldId id="354" r:id="rId2"/>
    <p:sldId id="448" r:id="rId3"/>
    <p:sldId id="483" r:id="rId4"/>
    <p:sldId id="467" r:id="rId5"/>
    <p:sldId id="468" r:id="rId6"/>
    <p:sldId id="470" r:id="rId7"/>
    <p:sldId id="471" r:id="rId8"/>
    <p:sldId id="474" r:id="rId9"/>
    <p:sldId id="475" r:id="rId10"/>
    <p:sldId id="476" r:id="rId11"/>
    <p:sldId id="477" r:id="rId12"/>
    <p:sldId id="478" r:id="rId13"/>
    <p:sldId id="481" r:id="rId1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740B"/>
    <a:srgbClr val="FFCCFF"/>
    <a:srgbClr val="0099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7" autoAdjust="0"/>
    <p:restoredTop sz="94667" autoAdjust="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>
            <a:extLst>
              <a:ext uri="{FF2B5EF4-FFF2-40B4-BE49-F238E27FC236}">
                <a16:creationId xmlns:a16="http://schemas.microsoft.com/office/drawing/2014/main" id="{5AF2547F-1F64-E865-BD14-08DE8DFD98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t" anchorCtr="0" compatLnSpc="1">
            <a:prstTxWarp prst="textNoShape">
              <a:avLst/>
            </a:prstTxWarp>
          </a:bodyPr>
          <a:lstStyle>
            <a:lvl1pPr algn="l" defTabSz="947738" rtl="0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03" name="Rectangle 3">
            <a:extLst>
              <a:ext uri="{FF2B5EF4-FFF2-40B4-BE49-F238E27FC236}">
                <a16:creationId xmlns:a16="http://schemas.microsoft.com/office/drawing/2014/main" id="{F6E251F5-CE92-CF25-AF23-DB95C34454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t" anchorCtr="0" compatLnSpc="1">
            <a:prstTxWarp prst="textNoShape">
              <a:avLst/>
            </a:prstTxWarp>
          </a:bodyPr>
          <a:lstStyle>
            <a:lvl1pPr algn="r" defTabSz="947738" rtl="0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04" name="Rectangle 4">
            <a:extLst>
              <a:ext uri="{FF2B5EF4-FFF2-40B4-BE49-F238E27FC236}">
                <a16:creationId xmlns:a16="http://schemas.microsoft.com/office/drawing/2014/main" id="{A5E10044-FAA7-6F5F-7EB8-A32D6989A2D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b" anchorCtr="0" compatLnSpc="1">
            <a:prstTxWarp prst="textNoShape">
              <a:avLst/>
            </a:prstTxWarp>
          </a:bodyPr>
          <a:lstStyle>
            <a:lvl1pPr algn="l" defTabSz="947738" rtl="0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05" name="Rectangle 5">
            <a:extLst>
              <a:ext uri="{FF2B5EF4-FFF2-40B4-BE49-F238E27FC236}">
                <a16:creationId xmlns:a16="http://schemas.microsoft.com/office/drawing/2014/main" id="{3F75CCAE-3470-69A6-5514-3B1765EB52A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b" anchorCtr="0" compatLnSpc="1">
            <a:prstTxWarp prst="textNoShape">
              <a:avLst/>
            </a:prstTxWarp>
          </a:bodyPr>
          <a:lstStyle>
            <a:lvl1pPr algn="r" defTabSz="947738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A399DBD-CDBD-4AAB-A8BE-218EC81FC99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7B87EEA3-6499-9BF6-FD9B-4AE4113D8F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t" anchorCtr="0" compatLnSpc="1">
            <a:prstTxWarp prst="textNoShape">
              <a:avLst/>
            </a:prstTxWarp>
          </a:bodyPr>
          <a:lstStyle>
            <a:lvl1pPr algn="l" defTabSz="947738" rtl="0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06E16012-03A9-40DC-E423-8B4F187A406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t" anchorCtr="0" compatLnSpc="1">
            <a:prstTxWarp prst="textNoShape">
              <a:avLst/>
            </a:prstTxWarp>
          </a:bodyPr>
          <a:lstStyle>
            <a:lvl1pPr algn="r" defTabSz="947738" rtl="0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4CE108EF-AF50-4793-CBB6-AA3B6D9E3CDF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5461" name="Rectangle 5">
            <a:extLst>
              <a:ext uri="{FF2B5EF4-FFF2-40B4-BE49-F238E27FC236}">
                <a16:creationId xmlns:a16="http://schemas.microsoft.com/office/drawing/2014/main" id="{285B3514-3D1B-517F-F625-39E6BB06A85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5462" name="Rectangle 6">
            <a:extLst>
              <a:ext uri="{FF2B5EF4-FFF2-40B4-BE49-F238E27FC236}">
                <a16:creationId xmlns:a16="http://schemas.microsoft.com/office/drawing/2014/main" id="{2EDD4F42-AB56-BCF6-783B-0177E536841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b" anchorCtr="0" compatLnSpc="1">
            <a:prstTxWarp prst="textNoShape">
              <a:avLst/>
            </a:prstTxWarp>
          </a:bodyPr>
          <a:lstStyle>
            <a:lvl1pPr algn="l" defTabSz="947738" rtl="0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5463" name="Rectangle 7">
            <a:extLst>
              <a:ext uri="{FF2B5EF4-FFF2-40B4-BE49-F238E27FC236}">
                <a16:creationId xmlns:a16="http://schemas.microsoft.com/office/drawing/2014/main" id="{F6D9E66B-1A35-5CB5-B6FB-1009F7B88F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7" tIns="47384" rIns="94767" bIns="47384" numCol="1" anchor="b" anchorCtr="0" compatLnSpc="1">
            <a:prstTxWarp prst="textNoShape">
              <a:avLst/>
            </a:prstTxWarp>
          </a:bodyPr>
          <a:lstStyle>
            <a:lvl1pPr algn="r" defTabSz="947738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A8CB4257-A829-4D16-B885-CD6E1C6E3AD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F976064-5E2B-7B6C-3DC8-A45929266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B652AD64-EA42-4FB8-A7E3-A819C9553F03}" type="slidenum">
              <a:rPr lang="ar-SA" altLang="en-US" sz="1200">
                <a:latin typeface="Arial" panose="020B0604020202020204" pitchFamily="34" charset="0"/>
              </a:rPr>
              <a:pPr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F4E2903-DE9E-31A7-97F9-91B36953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313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3" tIns="46344" rIns="94343" bIns="46344"/>
          <a:lstStyle/>
          <a:p>
            <a:pPr eaLnBrk="1" hangingPunct="1"/>
            <a:endParaRPr lang="fa-I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50CCB4C-0019-68BF-259E-3BCA0E18EB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5700" y="889000"/>
            <a:ext cx="4789488" cy="3592513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916A7010-DBE1-98B3-66DF-93873CDE62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9F0DEFB0-EB87-6C8E-8C3C-1BE27C229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9690C3DB-62FC-F9C3-C3D2-569FEF302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92CCA6D1-5A21-4145-B8FC-D0065CCAAB34}" type="slidenum">
              <a:rPr lang="ar-SA" altLang="en-US" sz="1200"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EF63B3-6D6F-11E0-F7ED-C9484A65347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37DE2B6-FDCB-6F15-BE6B-87DC9BC0FF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6639D64-22C2-F6EE-A8B8-A7BD2252D0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495B564-984E-3FFC-4CAF-2AF1B34F739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AE5A2F4-2A08-2002-457D-4CA58BAE5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7859A41A-C1CB-9E29-590E-C567181A58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D78A1E6F-DAA2-E2CA-3308-77F9DF55566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495148BB-3C38-2CB0-80EE-68B174CD4D4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C3C3D49F-7C45-CF1E-BA86-12DCAC10AD7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6884B24A-41D4-E8DA-6DAE-861DAD5F9F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0522E598-A626-8E86-3789-FC7EF5D092E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61CCAAD0-DF60-4343-779F-EBCA1815A89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C62B715A-3CF6-4A36-AF08-99B924917CE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21BCBE96-3294-EBF7-CBE4-5392FE9343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5AC2A56C-AD9D-78F1-3D88-CCAEACAFA62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80B4D160-1941-EA02-A0B8-CDFF2CAE2DB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777A4CDB-E559-F861-73C1-C5B7798A3BC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CE566FCE-B393-EBB1-0947-68471AA516A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9458B6CF-CAE9-71AA-51B2-24863AA8A76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4F0E3D58-4D64-40F0-BA1C-3E30743D02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E626ED02-CFDC-7695-02B1-5C8A4E7CAD1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AF8D6083-5AF0-1368-963A-E0D51F97BA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1 w 717"/>
                <a:gd name="T1" fmla="*/ 845 h 845"/>
                <a:gd name="T2" fmla="*/ 741 w 717"/>
                <a:gd name="T3" fmla="*/ 821 h 845"/>
                <a:gd name="T4" fmla="*/ 598 w 717"/>
                <a:gd name="T5" fmla="*/ 605 h 845"/>
                <a:gd name="T6" fmla="*/ 418 w 717"/>
                <a:gd name="T7" fmla="*/ 396 h 845"/>
                <a:gd name="T8" fmla="*/ 233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1 w 717"/>
                <a:gd name="T15" fmla="*/ 198 h 845"/>
                <a:gd name="T16" fmla="*/ 412 w 717"/>
                <a:gd name="T17" fmla="*/ 408 h 845"/>
                <a:gd name="T18" fmla="*/ 592 w 717"/>
                <a:gd name="T19" fmla="*/ 623 h 845"/>
                <a:gd name="T20" fmla="*/ 741 w 717"/>
                <a:gd name="T21" fmla="*/ 845 h 845"/>
                <a:gd name="T22" fmla="*/ 74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20A84F58-40D2-ADFA-9F2A-712E67D9B2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9 w 407"/>
                <a:gd name="T1" fmla="*/ 414 h 414"/>
                <a:gd name="T2" fmla="*/ 419 w 407"/>
                <a:gd name="T3" fmla="*/ 396 h 414"/>
                <a:gd name="T4" fmla="*/ 234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8 w 407"/>
                <a:gd name="T13" fmla="*/ 204 h 414"/>
                <a:gd name="T14" fmla="*/ 419 w 407"/>
                <a:gd name="T15" fmla="*/ 414 h 414"/>
                <a:gd name="T16" fmla="*/ 419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CA217299-7E30-AB83-B721-8E0427B9B7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BCFCABFF-B204-4129-E6CD-5FCD67FFA7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0 w 586"/>
                <a:gd name="T1" fmla="*/ 0 h 599"/>
                <a:gd name="T2" fmla="*/ 592 w 586"/>
                <a:gd name="T3" fmla="*/ 0 h 599"/>
                <a:gd name="T4" fmla="*/ 419 w 586"/>
                <a:gd name="T5" fmla="*/ 132 h 599"/>
                <a:gd name="T6" fmla="*/ 269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9 w 586"/>
                <a:gd name="T17" fmla="*/ 282 h 599"/>
                <a:gd name="T18" fmla="*/ 425 w 586"/>
                <a:gd name="T19" fmla="*/ 138 h 599"/>
                <a:gd name="T20" fmla="*/ 610 w 586"/>
                <a:gd name="T21" fmla="*/ 0 h 599"/>
                <a:gd name="T22" fmla="*/ 610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1F6B95C6-6651-6A00-B555-1253619A48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1 w 269"/>
                <a:gd name="T1" fmla="*/ 0 h 252"/>
                <a:gd name="T2" fmla="*/ 263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1 w 269"/>
                <a:gd name="T15" fmla="*/ 0 h 252"/>
                <a:gd name="T16" fmla="*/ 281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4EBF5226-CA1C-793A-5063-731F7A9DB90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CD8A576B-B2C2-6BE3-A3D2-AE9B73F8522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926B7E49-1DAD-FE01-D65F-28105ECE218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DE2B5CDB-0132-00DC-331B-80523054D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FA8E2DF8-FB95-1E7D-4AAF-8725E8D5DA2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AFF5CE3A-1C5E-067F-1A86-F62CC06601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D4FEA88F-5876-589C-300E-AC4DBB64793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6279780F-66AA-554F-B646-A1DD3C2DD7F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E60EF714-5155-6BE2-B6F2-417B6C5FA3D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B36EB435-A0A4-36CB-4398-654CFC97ACC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D89C18C9-7F98-BC6B-16F9-E982BD2CFC2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3015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3016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3EB1CE02-245A-E94A-A2B4-C835EF8B7C3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48B1AD6C-C7EA-A247-B762-CF9CA865CE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D324C4DC-7877-A5AF-43D0-ED241B1C6D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7CD21-DBAF-4B56-A123-9C9BCF7F11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27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98475597-7CA2-2435-E086-B3AFE2834C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D7B42BE-7A5A-93A3-FA8E-AF9405CC27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D3B391-6459-2339-E217-376D96FCB1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A82F5B-68A1-431F-B147-564B084558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34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EAA7196-EFE0-CC6A-9868-97AD38FD1F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0C56920F-D136-E513-3045-C3BE270393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B3AA5E0D-F3EF-6853-4337-7B92B3D69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454F4-F9CE-4FB9-9E60-41558B9693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1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651B1AA-C6F8-CE61-0FCF-6CEDE35DA9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0D0364F8-461A-80B7-0511-08031E5139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3F647C2C-4113-63A7-F726-E804D96CC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D86592-3E12-48A3-BE9F-2E4DC804EE0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304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34F99536-F070-841A-2B6E-D46FD48CD8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6E1A0C3B-219C-A4CD-5919-0B132C81F0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C1213CDC-12D0-01BE-A6A3-CF80866A4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7CDF2-04AB-4124-8931-F8A6790E90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44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4D6E132A-4218-B83A-4456-F0B5F85C2C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71DE0070-C7DF-DBB0-F15E-2F8C97CCDC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87802444-CB32-B04F-D5C0-F17978AC4C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80E0D2-518A-45EE-AADB-1892923F1B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80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D298F1A3-485E-8B2D-AD6C-EF1D0888AA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4EF5D9C7-CB4B-CCB9-9084-0BFEB35531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C5EA3761-5A0D-FEB0-2B00-4094CFBC2C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C8674-2F5E-4133-A070-56B4660CF9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69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DA986EB-E3D3-F048-99B4-9E1B9C354D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AE13F7F8-5005-98F6-5F8F-969ED5AEB0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51645055-EABD-166E-A8B3-F9C55BFFDE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BB420-1CE9-4A58-AE9C-BFB9C041DC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120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B9E18EBB-51B0-1A5A-C1B2-4B754675A5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55491849-858B-337F-0276-DC1C5F218B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EC2333FF-45C8-3B9C-7FED-52FD7B367C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6D8B64-C8B9-4339-A5A0-B9586C0388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274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B7CF202-DDE8-114E-DA63-4F4C9C3583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010E8795-F880-F684-2E7B-0F19CA7568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73C3B95-9E3E-EFDD-83A6-FC9E9572F2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33320-FBA5-4533-9CBD-4D5E4D411D9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8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69C4E644-8EFC-CE2A-05A3-FDDD4A8A0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84B24975-DD18-5D7A-9E0F-1F32983E9A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C35E4740-098F-5A09-2500-7AFCA85C4E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B3B55-1153-4863-A2B0-A2824F8A4B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891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BB3EE871-69E0-C935-3E7F-28BD3819A2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A2A13244-62CB-60BB-AA98-2C4E31226E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0BEA899F-3608-2CDD-2819-4F9ED75246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F713A2-106B-4510-9FA2-0CAA0DAE50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978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9023666F-E38A-5275-3CB8-104CDE057E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5AE751C4-C62E-1661-EB1A-B05F2C7FC0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8" name="Rectangle 42">
            <a:extLst>
              <a:ext uri="{FF2B5EF4-FFF2-40B4-BE49-F238E27FC236}">
                <a16:creationId xmlns:a16="http://schemas.microsoft.com/office/drawing/2014/main" id="{9A730C82-C985-C4AB-E74F-FF0A034DAB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E8B4BC-08C0-419E-98DE-5F46D9E80D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139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B463E9E-A704-301D-170B-9EBD08CE976B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81955" name="Freeform 3">
              <a:extLst>
                <a:ext uri="{FF2B5EF4-FFF2-40B4-BE49-F238E27FC236}">
                  <a16:creationId xmlns:a16="http://schemas.microsoft.com/office/drawing/2014/main" id="{6B5615C9-49BD-6B0C-19A0-8A659CCCA15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381956" name="Freeform 4">
              <a:extLst>
                <a:ext uri="{FF2B5EF4-FFF2-40B4-BE49-F238E27FC236}">
                  <a16:creationId xmlns:a16="http://schemas.microsoft.com/office/drawing/2014/main" id="{21D502BB-9AE2-017D-EEA5-6C1D596016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381957" name="Freeform 5">
              <a:extLst>
                <a:ext uri="{FF2B5EF4-FFF2-40B4-BE49-F238E27FC236}">
                  <a16:creationId xmlns:a16="http://schemas.microsoft.com/office/drawing/2014/main" id="{C3540C6B-7B89-79C3-0A14-3AF4B1DEF2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ED9748D7-74CF-72B5-2477-C8613DC24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81959" name="Freeform 7">
                <a:extLst>
                  <a:ext uri="{FF2B5EF4-FFF2-40B4-BE49-F238E27FC236}">
                    <a16:creationId xmlns:a16="http://schemas.microsoft.com/office/drawing/2014/main" id="{E84344F9-BB77-1B38-64A0-A5CB7EF8052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0" name="Freeform 8">
                <a:extLst>
                  <a:ext uri="{FF2B5EF4-FFF2-40B4-BE49-F238E27FC236}">
                    <a16:creationId xmlns:a16="http://schemas.microsoft.com/office/drawing/2014/main" id="{54C6532C-9332-3F52-6721-51C3F4F832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1" name="Freeform 9">
                <a:extLst>
                  <a:ext uri="{FF2B5EF4-FFF2-40B4-BE49-F238E27FC236}">
                    <a16:creationId xmlns:a16="http://schemas.microsoft.com/office/drawing/2014/main" id="{79E07344-F5E1-AEEC-36B9-70DBCF81F16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2" name="Freeform 10">
                <a:extLst>
                  <a:ext uri="{FF2B5EF4-FFF2-40B4-BE49-F238E27FC236}">
                    <a16:creationId xmlns:a16="http://schemas.microsoft.com/office/drawing/2014/main" id="{B141F464-9FE4-0788-16E5-20ED5447177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3" name="Freeform 11">
                <a:extLst>
                  <a:ext uri="{FF2B5EF4-FFF2-40B4-BE49-F238E27FC236}">
                    <a16:creationId xmlns:a16="http://schemas.microsoft.com/office/drawing/2014/main" id="{3705728D-AB21-3A31-A286-8D74DFA3248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4" name="Freeform 12">
                <a:extLst>
                  <a:ext uri="{FF2B5EF4-FFF2-40B4-BE49-F238E27FC236}">
                    <a16:creationId xmlns:a16="http://schemas.microsoft.com/office/drawing/2014/main" id="{80BAADBC-E9C7-D983-C791-8E34AD9B56F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5" name="Freeform 13">
                <a:extLst>
                  <a:ext uri="{FF2B5EF4-FFF2-40B4-BE49-F238E27FC236}">
                    <a16:creationId xmlns:a16="http://schemas.microsoft.com/office/drawing/2014/main" id="{99132641-139D-F3E6-B206-097BE41EB24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6" name="Freeform 14">
                <a:extLst>
                  <a:ext uri="{FF2B5EF4-FFF2-40B4-BE49-F238E27FC236}">
                    <a16:creationId xmlns:a16="http://schemas.microsoft.com/office/drawing/2014/main" id="{435EF0A1-03A6-899B-DBE2-46CF436B81D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7" name="Freeform 15">
                <a:extLst>
                  <a:ext uri="{FF2B5EF4-FFF2-40B4-BE49-F238E27FC236}">
                    <a16:creationId xmlns:a16="http://schemas.microsoft.com/office/drawing/2014/main" id="{6B5DF952-4E42-B7A0-194B-9D03063592B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8" name="Freeform 16">
                <a:extLst>
                  <a:ext uri="{FF2B5EF4-FFF2-40B4-BE49-F238E27FC236}">
                    <a16:creationId xmlns:a16="http://schemas.microsoft.com/office/drawing/2014/main" id="{089CC5C5-3288-F2E9-76B1-87E904AE8C0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69" name="Freeform 17">
                <a:extLst>
                  <a:ext uri="{FF2B5EF4-FFF2-40B4-BE49-F238E27FC236}">
                    <a16:creationId xmlns:a16="http://schemas.microsoft.com/office/drawing/2014/main" id="{A1B3E629-C414-92B4-11DA-8BE79532379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70" name="Freeform 18">
                <a:extLst>
                  <a:ext uri="{FF2B5EF4-FFF2-40B4-BE49-F238E27FC236}">
                    <a16:creationId xmlns:a16="http://schemas.microsoft.com/office/drawing/2014/main" id="{E2FCF4AD-50A2-754C-5371-03C7E16EB7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381971" name="Freeform 19">
                <a:extLst>
                  <a:ext uri="{FF2B5EF4-FFF2-40B4-BE49-F238E27FC236}">
                    <a16:creationId xmlns:a16="http://schemas.microsoft.com/office/drawing/2014/main" id="{D01125A7-1052-0C9F-AC2B-0842FEC9A2B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rtl="1" eaLnBrk="1" hangingPunct="1"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sp>
          <p:nvSpPr>
            <p:cNvPr id="381972" name="Freeform 20">
              <a:extLst>
                <a:ext uri="{FF2B5EF4-FFF2-40B4-BE49-F238E27FC236}">
                  <a16:creationId xmlns:a16="http://schemas.microsoft.com/office/drawing/2014/main" id="{B6CB8547-8ED3-C109-9A29-C9654424D2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381973" name="Freeform 21">
              <a:extLst>
                <a:ext uri="{FF2B5EF4-FFF2-40B4-BE49-F238E27FC236}">
                  <a16:creationId xmlns:a16="http://schemas.microsoft.com/office/drawing/2014/main" id="{461E9EF9-2E8B-F98C-FF66-08F5F6E26DC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381974" name="Freeform 22">
              <a:extLst>
                <a:ext uri="{FF2B5EF4-FFF2-40B4-BE49-F238E27FC236}">
                  <a16:creationId xmlns:a16="http://schemas.microsoft.com/office/drawing/2014/main" id="{71CDE430-1195-BEE4-2940-802CEC078F2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5E13F274-735C-4C2D-C441-8079F83AFC5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1 w 717"/>
                <a:gd name="T1" fmla="*/ 845 h 845"/>
                <a:gd name="T2" fmla="*/ 741 w 717"/>
                <a:gd name="T3" fmla="*/ 821 h 845"/>
                <a:gd name="T4" fmla="*/ 598 w 717"/>
                <a:gd name="T5" fmla="*/ 605 h 845"/>
                <a:gd name="T6" fmla="*/ 418 w 717"/>
                <a:gd name="T7" fmla="*/ 396 h 845"/>
                <a:gd name="T8" fmla="*/ 233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1 w 717"/>
                <a:gd name="T15" fmla="*/ 198 h 845"/>
                <a:gd name="T16" fmla="*/ 412 w 717"/>
                <a:gd name="T17" fmla="*/ 408 h 845"/>
                <a:gd name="T18" fmla="*/ 592 w 717"/>
                <a:gd name="T19" fmla="*/ 623 h 845"/>
                <a:gd name="T20" fmla="*/ 741 w 717"/>
                <a:gd name="T21" fmla="*/ 845 h 845"/>
                <a:gd name="T22" fmla="*/ 74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C47DAD69-081E-D806-E0F0-7623D3100A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9 w 407"/>
                <a:gd name="T1" fmla="*/ 414 h 414"/>
                <a:gd name="T2" fmla="*/ 419 w 407"/>
                <a:gd name="T3" fmla="*/ 396 h 414"/>
                <a:gd name="T4" fmla="*/ 234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8 w 407"/>
                <a:gd name="T13" fmla="*/ 204 h 414"/>
                <a:gd name="T14" fmla="*/ 419 w 407"/>
                <a:gd name="T15" fmla="*/ 414 h 414"/>
                <a:gd name="T16" fmla="*/ 419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977" name="Freeform 25">
              <a:extLst>
                <a:ext uri="{FF2B5EF4-FFF2-40B4-BE49-F238E27FC236}">
                  <a16:creationId xmlns:a16="http://schemas.microsoft.com/office/drawing/2014/main" id="{157E2221-E0FC-15D9-2F33-145428E792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rtl="1" eaLnBrk="1" hangingPunct="1"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F40E8C3D-E058-3E13-623F-8F9A380D9EC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0 w 586"/>
                <a:gd name="T1" fmla="*/ 0 h 599"/>
                <a:gd name="T2" fmla="*/ 592 w 586"/>
                <a:gd name="T3" fmla="*/ 0 h 599"/>
                <a:gd name="T4" fmla="*/ 419 w 586"/>
                <a:gd name="T5" fmla="*/ 132 h 599"/>
                <a:gd name="T6" fmla="*/ 269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9 w 586"/>
                <a:gd name="T17" fmla="*/ 282 h 599"/>
                <a:gd name="T18" fmla="*/ 425 w 586"/>
                <a:gd name="T19" fmla="*/ 138 h 599"/>
                <a:gd name="T20" fmla="*/ 610 w 586"/>
                <a:gd name="T21" fmla="*/ 0 h 599"/>
                <a:gd name="T22" fmla="*/ 610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11E97472-0F3A-ED7F-B031-1BC4CA0CD1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1 w 269"/>
                <a:gd name="T1" fmla="*/ 0 h 252"/>
                <a:gd name="T2" fmla="*/ 263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1 w 269"/>
                <a:gd name="T15" fmla="*/ 0 h 252"/>
                <a:gd name="T16" fmla="*/ 281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7DA0D04E-D841-AF7A-D4A2-E152EF291D9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B5361291-4BBF-0E2F-831B-113628E1365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736FD9C5-93F8-6E10-79F3-5344486E08D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443F6196-E859-0AB4-8655-4C0FA16D44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F5FF1F07-6D13-92DE-DB10-119DB8896CA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D69F870F-DF6C-1C0D-9E1A-F3A2C035921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D4AAAF31-43EB-8C3C-87BF-C6ACE67127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53138E80-191C-051A-2CB0-B63F441A636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9131D3B4-16A6-9BD4-9637-2B54544E164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C11E44B4-93B8-177E-557A-AF30AA65ABC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C5837FEB-FD4B-1FBD-B177-DECC4487DB4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1991" name="Rectangle 39">
            <a:extLst>
              <a:ext uri="{FF2B5EF4-FFF2-40B4-BE49-F238E27FC236}">
                <a16:creationId xmlns:a16="http://schemas.microsoft.com/office/drawing/2014/main" id="{78936460-4BB4-3F5E-9200-6BB179302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81992" name="Rectangle 40">
            <a:extLst>
              <a:ext uri="{FF2B5EF4-FFF2-40B4-BE49-F238E27FC236}">
                <a16:creationId xmlns:a16="http://schemas.microsoft.com/office/drawing/2014/main" id="{BCE3845A-25B1-1E5D-91CB-2BD3E09257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1993" name="Rectangle 41">
            <a:extLst>
              <a:ext uri="{FF2B5EF4-FFF2-40B4-BE49-F238E27FC236}">
                <a16:creationId xmlns:a16="http://schemas.microsoft.com/office/drawing/2014/main" id="{A169C1F9-8A23-4A29-E034-FFE2379267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Nasser Mozayani</a:t>
            </a:r>
          </a:p>
        </p:txBody>
      </p:sp>
      <p:sp>
        <p:nvSpPr>
          <p:cNvPr id="381994" name="Rectangle 42">
            <a:extLst>
              <a:ext uri="{FF2B5EF4-FFF2-40B4-BE49-F238E27FC236}">
                <a16:creationId xmlns:a16="http://schemas.microsoft.com/office/drawing/2014/main" id="{A05574DA-6382-9D70-1135-44EEEAD345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A0D4BA9C-D9BE-434F-A8CA-57562EE5B4F3}" type="slidenum">
              <a:rPr lang="ar-SA" altLang="en-US"/>
              <a:pPr/>
              <a:t>‹#›</a:t>
            </a:fld>
            <a:endParaRPr lang="en-US" altLang="en-US"/>
          </a:p>
        </p:txBody>
      </p:sp>
      <p:sp>
        <p:nvSpPr>
          <p:cNvPr id="381995" name="Rectangle 43">
            <a:extLst>
              <a:ext uri="{FF2B5EF4-FFF2-40B4-BE49-F238E27FC236}">
                <a16:creationId xmlns:a16="http://schemas.microsoft.com/office/drawing/2014/main" id="{01F767F8-A3B7-AA8A-192C-DD70E7002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0" r:id="rId1"/>
    <p:sldLayoutId id="2147484201" r:id="rId2"/>
    <p:sldLayoutId id="2147484202" r:id="rId3"/>
    <p:sldLayoutId id="2147484203" r:id="rId4"/>
    <p:sldLayoutId id="2147484204" r:id="rId5"/>
    <p:sldLayoutId id="2147484205" r:id="rId6"/>
    <p:sldLayoutId id="2147484206" r:id="rId7"/>
    <p:sldLayoutId id="2147484207" r:id="rId8"/>
    <p:sldLayoutId id="2147484208" r:id="rId9"/>
    <p:sldLayoutId id="2147484209" r:id="rId10"/>
    <p:sldLayoutId id="2147484210" r:id="rId11"/>
    <p:sldLayoutId id="2147484211" r:id="rId12"/>
    <p:sldLayoutId id="2147484212" r:id="rId13"/>
  </p:sldLayoutIdLst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ozayani@iust.ac.i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60" name="Rectangle 4">
            <a:extLst>
              <a:ext uri="{FF2B5EF4-FFF2-40B4-BE49-F238E27FC236}">
                <a16:creationId xmlns:a16="http://schemas.microsoft.com/office/drawing/2014/main" id="{87248E98-EA36-BF4D-17E4-195436BE8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229600" cy="1944687"/>
          </a:xfrm>
        </p:spPr>
        <p:txBody>
          <a:bodyPr/>
          <a:lstStyle/>
          <a:p>
            <a:pPr eaLnBrk="1" hangingPunct="1">
              <a:defRPr/>
            </a:pPr>
            <a:r>
              <a:rPr lang="fa-IR" sz="4800" b="1" dirty="0">
                <a:solidFill>
                  <a:srgbClr val="FF3300"/>
                </a:solidFill>
                <a:cs typeface="Yagut" pitchFamily="2" charset="-78"/>
              </a:rPr>
              <a:t>رايانش نرم،</a:t>
            </a:r>
            <a:br>
              <a:rPr lang="fa-IR" sz="4800" b="1" dirty="0">
                <a:solidFill>
                  <a:srgbClr val="FF3300"/>
                </a:solidFill>
                <a:cs typeface="Yagut" pitchFamily="2" charset="-78"/>
              </a:rPr>
            </a:br>
            <a:r>
              <a:rPr lang="fa-IR" sz="4800" b="1" dirty="0">
                <a:solidFill>
                  <a:srgbClr val="FF3300"/>
                </a:solidFill>
                <a:cs typeface="Yagut" pitchFamily="2" charset="-78"/>
              </a:rPr>
              <a:t>هوش محاسباتی</a:t>
            </a:r>
            <a:endParaRPr lang="en-US" sz="4800" b="1" dirty="0">
              <a:solidFill>
                <a:srgbClr val="FF3300"/>
              </a:solidFill>
              <a:cs typeface="Yagut" pitchFamily="2" charset="-78"/>
            </a:endParaRPr>
          </a:p>
        </p:txBody>
      </p:sp>
      <p:sp>
        <p:nvSpPr>
          <p:cNvPr id="531461" name="Rectangle 5">
            <a:extLst>
              <a:ext uri="{FF2B5EF4-FFF2-40B4-BE49-F238E27FC236}">
                <a16:creationId xmlns:a16="http://schemas.microsoft.com/office/drawing/2014/main" id="{79BD073E-C836-A76E-A9F1-180F6D920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636838"/>
            <a:ext cx="8229600" cy="3313112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endParaRPr lang="ar-SA" dirty="0">
              <a:latin typeface="Arial Unicode MS" pitchFamily="34" charset="-128"/>
              <a:ea typeface="Arial Unicode MS" pitchFamily="34" charset="-128"/>
              <a:cs typeface="B Nazanin" pitchFamily="2" charset="-78"/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ar-SA" dirty="0">
                <a:cs typeface="Yagut" pitchFamily="2" charset="-78"/>
              </a:rPr>
              <a:t>دانشكده مهندسي كامپيوتر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ar-SA" dirty="0">
                <a:cs typeface="Yagut" pitchFamily="2" charset="-78"/>
              </a:rPr>
              <a:t>دانشگاه علم و صنعت ايران</a:t>
            </a:r>
            <a:endParaRPr lang="en-US" dirty="0">
              <a:cs typeface="Yagut" pitchFamily="2" charset="-78"/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Courier New" pitchFamily="49" charset="0"/>
                <a:hlinkClick r:id="rId2"/>
              </a:rPr>
              <a:t>mozayani@iust.ac.ir</a:t>
            </a:r>
            <a:endParaRPr lang="en-US" sz="2000" dirty="0">
              <a:latin typeface="Courier New" pitchFamily="49" charset="0"/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000" dirty="0">
              <a:latin typeface="Courier New" pitchFamily="49" charset="0"/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fa-IR" dirty="0">
                <a:latin typeface="Cooper Black" pitchFamily="18" charset="0"/>
                <a:cs typeface="Nasim" pitchFamily="2" charset="-78"/>
              </a:rPr>
              <a:t>مقدمه</a:t>
            </a:r>
            <a:endParaRPr lang="en-US" dirty="0">
              <a:latin typeface="Cooper Black" pitchFamily="18" charset="0"/>
              <a:cs typeface="Nasim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54F3E-A099-0E97-4396-25FC7A20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7FF6CD30-3BE9-4F7B-9212-B1D33CB4ECBE}" type="slidenum">
              <a:rPr lang="ar-SA" altLang="en-US" sz="1000"/>
              <a:pPr/>
              <a:t>1</a:t>
            </a:fld>
            <a:endParaRPr lang="en-US" alt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34AE2ADB-9BF3-D60B-2EF0-3F5EF4DB3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7488237" cy="1368425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/>
              <a:t>Deterministic?</a:t>
            </a:r>
          </a:p>
          <a:p>
            <a:pPr algn="l" rtl="0" eaLnBrk="1" hangingPunct="1">
              <a:defRPr/>
            </a:pPr>
            <a:r>
              <a:rPr lang="en-US"/>
              <a:t>Statistic?</a:t>
            </a:r>
          </a:p>
        </p:txBody>
      </p:sp>
      <p:sp>
        <p:nvSpPr>
          <p:cNvPr id="738313" name="Rectangle 9">
            <a:extLst>
              <a:ext uri="{FF2B5EF4-FFF2-40B4-BE49-F238E27FC236}">
                <a16:creationId xmlns:a16="http://schemas.microsoft.com/office/drawing/2014/main" id="{FBF79175-FE6E-EBCF-075D-59FC91121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/>
              <a:t>What kind of science?</a:t>
            </a:r>
          </a:p>
        </p:txBody>
      </p:sp>
      <p:sp>
        <p:nvSpPr>
          <p:cNvPr id="738314" name="Rectangle 10">
            <a:extLst>
              <a:ext uri="{FF2B5EF4-FFF2-40B4-BE49-F238E27FC236}">
                <a16:creationId xmlns:a16="http://schemas.microsoft.com/office/drawing/2014/main" id="{E389C140-95AF-3AA4-DF43-984DF7FDE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068638"/>
            <a:ext cx="748823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r" rtl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/>
            <a:r>
              <a:rPr lang="en-US" altLang="en-US"/>
              <a:t>Soft Computing</a:t>
            </a:r>
          </a:p>
          <a:p>
            <a:pPr lvl="1" algn="l" rtl="0" eaLnBrk="1" hangingPunct="1"/>
            <a:r>
              <a:rPr lang="en-US" altLang="en-US"/>
              <a:t>Artificial Neural Networks</a:t>
            </a:r>
          </a:p>
          <a:p>
            <a:pPr lvl="1" algn="l" rtl="0" eaLnBrk="1" hangingPunct="1"/>
            <a:r>
              <a:rPr lang="en-US" altLang="en-US"/>
              <a:t>Evolutionary Computing</a:t>
            </a:r>
          </a:p>
          <a:p>
            <a:pPr lvl="1" algn="l" rtl="0" eaLnBrk="1" hangingPunct="1"/>
            <a:r>
              <a:rPr lang="en-US" altLang="en-US"/>
              <a:t>Fuzzy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849B9-0B19-730C-01F8-82898DAE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D300B225-6649-4B60-86B6-27A31BBCF727}" type="slidenum">
              <a:rPr lang="ar-SA" altLang="en-US" sz="1000"/>
              <a:pPr/>
              <a:t>2</a:t>
            </a:fld>
            <a:endParaRPr lang="en-US" altLang="en-US" sz="1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000"/>
                                        <p:tgtEl>
                                          <p:spTgt spid="73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6" grpId="0" build="p"/>
      <p:bldP spid="7383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ím 1">
            <a:extLst>
              <a:ext uri="{FF2B5EF4-FFF2-40B4-BE49-F238E27FC236}">
                <a16:creationId xmlns:a16="http://schemas.microsoft.com/office/drawing/2014/main" id="{B1C2C618-64F0-C6B9-FAAA-073EE837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hu-HU" dirty="0"/>
              <a:t>Biological inspiration</a:t>
            </a:r>
            <a:endParaRPr lang="hu-HU" altLang="hu-HU" dirty="0"/>
          </a:p>
        </p:txBody>
      </p:sp>
      <p:pic>
        <p:nvPicPr>
          <p:cNvPr id="19460" name="Picture 2" descr="http://static.ddmcdn.com/gif/bungled-personal-flight-attempt-1.jpg">
            <a:extLst>
              <a:ext uri="{FF2B5EF4-FFF2-40B4-BE49-F238E27FC236}">
                <a16:creationId xmlns:a16="http://schemas.microsoft.com/office/drawing/2014/main" id="{A105B1C9-D986-7819-BAB2-88678E6ED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6343" r="7397" b="3716"/>
          <a:stretch>
            <a:fillRect/>
          </a:stretch>
        </p:blipFill>
        <p:spPr bwMode="auto">
          <a:xfrm>
            <a:off x="2328863" y="2205038"/>
            <a:ext cx="3455987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 descr="http://www.wallpaperswala.com/wp-content/gallery/flying-birds/flying_eagle_photo.jpg">
            <a:extLst>
              <a:ext uri="{FF2B5EF4-FFF2-40B4-BE49-F238E27FC236}">
                <a16:creationId xmlns:a16="http://schemas.microsoft.com/office/drawing/2014/main" id="{938CEDB4-5C4C-F80D-8D15-CC9DF9AB6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6" r="18848" b="6096"/>
          <a:stretch>
            <a:fillRect/>
          </a:stretch>
        </p:blipFill>
        <p:spPr bwMode="auto">
          <a:xfrm>
            <a:off x="107950" y="1223963"/>
            <a:ext cx="22415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2758" name="Picture 6" descr="http://www.kerozingozos.hu/wp-content/uploads/2010/10/DSC_0062.jpg">
            <a:extLst>
              <a:ext uri="{FF2B5EF4-FFF2-40B4-BE49-F238E27FC236}">
                <a16:creationId xmlns:a16="http://schemas.microsoft.com/office/drawing/2014/main" id="{9223E1FD-5389-2327-3F5B-BB839B5ED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2" t="-797" r="10416" b="-2"/>
          <a:stretch>
            <a:fillRect/>
          </a:stretch>
        </p:blipFill>
        <p:spPr bwMode="auto">
          <a:xfrm>
            <a:off x="5795963" y="3357563"/>
            <a:ext cx="3240087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A2E94F-038F-F57E-94B5-96E03BBE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49B6050C-A9EF-4212-AC53-54C2EE09C5E5}" type="slidenum">
              <a:rPr lang="ar-SA" altLang="en-US" sz="1000"/>
              <a:pPr/>
              <a:t>3</a:t>
            </a:fld>
            <a:endParaRPr lang="en-US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A7F02-9E05-2DBE-0897-CAF03117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1F8E0E06-ADD8-47C8-9ACA-E8C252916AF3}" type="slidenum">
              <a:rPr lang="en-US" altLang="zh-TW" sz="1000">
                <a:ea typeface="新細明體" panose="02020500000000000000" pitchFamily="18" charset="-120"/>
              </a:rPr>
              <a:pPr/>
              <a:t>4</a:t>
            </a:fld>
            <a:endParaRPr lang="en-US" altLang="zh-TW" sz="1000">
              <a:ea typeface="新細明體" panose="02020500000000000000" pitchFamily="18" charset="-12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4EBC8A4E-EA44-5E96-E1D1-44C2D95E1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TW" sz="3800" dirty="0"/>
              <a:t>HISTORY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BA41141-EB3D-7180-0F9F-95877A978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1940 – First computing machine</a:t>
            </a:r>
          </a:p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1957 – Perceptron (First NN model)</a:t>
            </a:r>
          </a:p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1965 – Fuzzy Logic (Rules)</a:t>
            </a:r>
          </a:p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1960s – Genetic Algorithm</a:t>
            </a:r>
          </a:p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1970s – Evolutionary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90419-1059-249F-42EE-0673AA14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0DFA38B1-F479-4E34-BFC8-8ABD5719B4C6}" type="slidenum">
              <a:rPr lang="en-US" altLang="zh-TW" sz="1000">
                <a:ea typeface="新細明體" panose="02020500000000000000" pitchFamily="18" charset="-120"/>
              </a:rPr>
              <a:pPr/>
              <a:t>5</a:t>
            </a:fld>
            <a:endParaRPr lang="en-US" altLang="zh-TW" sz="1000">
              <a:ea typeface="新細明體" panose="02020500000000000000" pitchFamily="18" charset="-12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2526BD19-CFCD-2CA9-5942-807DA074B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3388" y="7938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TW" sz="3800" dirty="0"/>
              <a:t>HISTORY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D10751C-6335-B6F3-5F52-E82874D6F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1980s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Neural Computing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Swarm Intelligence</a:t>
            </a:r>
          </a:p>
          <a:p>
            <a:pPr algn="l" rtl="0"/>
            <a:endParaRPr lang="en-US" altLang="zh-TW">
              <a:effectLst/>
              <a:ea typeface="新細明體" panose="02020500000000000000" pitchFamily="18" charset="-120"/>
            </a:endParaRPr>
          </a:p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1990s (Hybrid)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Fuzzy Neural Networks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NFG, FGN, GNF, etc</a:t>
            </a:r>
          </a:p>
          <a:p>
            <a:pPr algn="l" rtl="0"/>
            <a:endParaRPr lang="en-US" altLang="zh-TW">
              <a:effectLst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2B5CD-0D29-8AB2-DB15-6328EC62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A0BCB04E-FE4D-4E62-9364-F1222D23FCE8}" type="slidenum">
              <a:rPr lang="en-US" altLang="zh-TW" sz="1000">
                <a:ea typeface="新細明體" panose="02020500000000000000" pitchFamily="18" charset="-120"/>
              </a:rPr>
              <a:pPr/>
              <a:t>6</a:t>
            </a:fld>
            <a:endParaRPr lang="en-US" altLang="zh-TW" sz="1000">
              <a:ea typeface="新細明體" panose="02020500000000000000" pitchFamily="18" charset="-12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2147BA5-3319-3BD7-C6BE-B1CF12E63A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TW" sz="3200" dirty="0"/>
              <a:t>COMPUTATIONAL INTELLIGENCE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74B6436B-C72D-40E1-494B-08C348DF9D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lnSpc>
                <a:spcPct val="80000"/>
              </a:lnSpc>
            </a:pPr>
            <a:r>
              <a:rPr lang="en-US" altLang="zh-TW" sz="2600">
                <a:effectLst/>
                <a:ea typeface="新細明體" panose="02020500000000000000" pitchFamily="18" charset="-120"/>
              </a:rPr>
              <a:t>Underlying structure of the model is </a:t>
            </a:r>
            <a:r>
              <a:rPr lang="en-US" altLang="zh-TW" sz="2600">
                <a:solidFill>
                  <a:srgbClr val="FF0000"/>
                </a:solidFill>
                <a:effectLst/>
                <a:ea typeface="新細明體" panose="02020500000000000000" pitchFamily="18" charset="-120"/>
              </a:rPr>
              <a:t>unknown</a:t>
            </a:r>
            <a:r>
              <a:rPr lang="en-US" altLang="zh-TW" sz="2600">
                <a:effectLst/>
                <a:ea typeface="新細明體" panose="02020500000000000000" pitchFamily="18" charset="-120"/>
              </a:rPr>
              <a:t>, or the model is known but it is </a:t>
            </a:r>
            <a:r>
              <a:rPr lang="en-US" altLang="zh-TW" sz="2600">
                <a:solidFill>
                  <a:srgbClr val="FF0000"/>
                </a:solidFill>
                <a:effectLst/>
                <a:ea typeface="新細明體" panose="02020500000000000000" pitchFamily="18" charset="-120"/>
              </a:rPr>
              <a:t>too complicated</a:t>
            </a:r>
          </a:p>
          <a:p>
            <a:pPr algn="l" rtl="0">
              <a:lnSpc>
                <a:spcPct val="80000"/>
              </a:lnSpc>
            </a:pPr>
            <a:endParaRPr lang="en-US" altLang="zh-TW" sz="2600">
              <a:effectLst/>
              <a:ea typeface="新細明體" panose="02020500000000000000" pitchFamily="18" charset="-120"/>
            </a:endParaRPr>
          </a:p>
          <a:p>
            <a:pPr algn="l" rtl="0">
              <a:lnSpc>
                <a:spcPct val="80000"/>
              </a:lnSpc>
            </a:pPr>
            <a:r>
              <a:rPr lang="en-US" altLang="zh-TW" sz="2600">
                <a:effectLst/>
                <a:ea typeface="新細明體" panose="02020500000000000000" pitchFamily="18" charset="-120"/>
              </a:rPr>
              <a:t>Define system structure</a:t>
            </a:r>
          </a:p>
          <a:p>
            <a:pPr lvl="1" algn="l" rtl="0">
              <a:lnSpc>
                <a:spcPct val="80000"/>
              </a:lnSpc>
            </a:pPr>
            <a:r>
              <a:rPr lang="en-US" altLang="zh-TW" sz="2200">
                <a:effectLst/>
                <a:ea typeface="新細明體" panose="02020500000000000000" pitchFamily="18" charset="-120"/>
              </a:rPr>
              <a:t>Rule-based system</a:t>
            </a:r>
          </a:p>
          <a:p>
            <a:pPr algn="l" rtl="0">
              <a:lnSpc>
                <a:spcPct val="80000"/>
              </a:lnSpc>
            </a:pPr>
            <a:endParaRPr lang="en-US" altLang="zh-TW" sz="2600">
              <a:effectLst/>
              <a:ea typeface="新細明體" panose="02020500000000000000" pitchFamily="18" charset="-120"/>
            </a:endParaRPr>
          </a:p>
          <a:p>
            <a:pPr algn="l" rtl="0">
              <a:lnSpc>
                <a:spcPct val="80000"/>
              </a:lnSpc>
            </a:pPr>
            <a:r>
              <a:rPr lang="en-US" altLang="zh-TW" sz="2600">
                <a:effectLst/>
                <a:ea typeface="新細明體" panose="02020500000000000000" pitchFamily="18" charset="-120"/>
              </a:rPr>
              <a:t>Parametric estimation</a:t>
            </a:r>
          </a:p>
          <a:p>
            <a:pPr lvl="1" algn="l" rtl="0">
              <a:lnSpc>
                <a:spcPct val="80000"/>
              </a:lnSpc>
            </a:pPr>
            <a:r>
              <a:rPr lang="en-US" altLang="zh-TW" sz="2200">
                <a:effectLst/>
                <a:ea typeface="新細明體" panose="02020500000000000000" pitchFamily="18" charset="-120"/>
              </a:rPr>
              <a:t>Deterministic search (Gradient descent or Newton’s method)</a:t>
            </a:r>
          </a:p>
          <a:p>
            <a:pPr lvl="1" algn="l" rtl="0">
              <a:lnSpc>
                <a:spcPct val="80000"/>
              </a:lnSpc>
            </a:pPr>
            <a:r>
              <a:rPr lang="en-US" altLang="zh-TW" sz="2200">
                <a:effectLst/>
                <a:ea typeface="新細明體" panose="02020500000000000000" pitchFamily="18" charset="-120"/>
              </a:rPr>
              <a:t>Stochastic search (SA or MCMC)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30725-AF1D-48C0-DB77-9E3EE509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92EB9D2E-75A4-4358-BABC-2688039C2098}" type="slidenum">
              <a:rPr lang="en-US" altLang="zh-TW" sz="1000">
                <a:ea typeface="新細明體" panose="02020500000000000000" pitchFamily="18" charset="-120"/>
              </a:rPr>
              <a:pPr/>
              <a:t>7</a:t>
            </a:fld>
            <a:endParaRPr lang="en-US" altLang="zh-TW" sz="1000">
              <a:ea typeface="新細明體" panose="02020500000000000000" pitchFamily="18" charset="-12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B79896F1-EC84-5D44-33A0-C3A8A7576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4925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zh-TW" sz="3200" dirty="0"/>
              <a:t>COMPUTATIONAL INTELLIGENCE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50CDD74-6177-0B42-14AC-C97E99764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Underlying model structure is known</a:t>
            </a:r>
          </a:p>
          <a:p>
            <a:pPr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Example: Manufacturing process (SCM)</a:t>
            </a:r>
          </a:p>
          <a:p>
            <a:pPr lvl="1" algn="l" rtl="0">
              <a:lnSpc>
                <a:spcPct val="90000"/>
              </a:lnSpc>
            </a:pPr>
            <a:endParaRPr lang="en-US" altLang="zh-TW" sz="2000">
              <a:effectLst/>
              <a:ea typeface="新細明體" panose="02020500000000000000" pitchFamily="18" charset="-120"/>
            </a:endParaRPr>
          </a:p>
          <a:p>
            <a:pPr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Define the objective to be maximized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000">
                <a:effectLst/>
                <a:ea typeface="新細明體" panose="02020500000000000000" pitchFamily="18" charset="-120"/>
              </a:rPr>
              <a:t>Examples: Completion time, Cost, Profit</a:t>
            </a:r>
          </a:p>
          <a:p>
            <a:pPr algn="l" rtl="0">
              <a:lnSpc>
                <a:spcPct val="90000"/>
              </a:lnSpc>
            </a:pPr>
            <a:endParaRPr lang="en-US" altLang="zh-TW" sz="2400">
              <a:effectLst/>
              <a:ea typeface="新細明體" panose="02020500000000000000" pitchFamily="18" charset="-120"/>
            </a:endParaRPr>
          </a:p>
          <a:p>
            <a:pPr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Optimization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000">
                <a:effectLst/>
                <a:ea typeface="新細明體" panose="02020500000000000000" pitchFamily="18" charset="-120"/>
              </a:rPr>
              <a:t>Linear programming, ILP, NLP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000">
                <a:effectLst/>
                <a:ea typeface="新細明體" panose="02020500000000000000" pitchFamily="18" charset="-120"/>
              </a:rPr>
              <a:t>Deterministic search (Gradient descent or Newton’s method)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000">
                <a:effectLst/>
                <a:ea typeface="新細明體" panose="02020500000000000000" pitchFamily="18" charset="-120"/>
              </a:rPr>
              <a:t>Stochastic search (SA or MCMC)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5739-8489-EF74-9AB0-C6185D13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0EA1E1CE-8D1E-462E-BBE4-A95F520F1AEB}" type="slidenum">
              <a:rPr lang="en-US" altLang="zh-TW" sz="1000">
                <a:ea typeface="新細明體" panose="02020500000000000000" pitchFamily="18" charset="-120"/>
              </a:rPr>
              <a:pPr/>
              <a:t>8</a:t>
            </a:fld>
            <a:endParaRPr lang="en-US" altLang="zh-TW" sz="1000">
              <a:ea typeface="新細明體" panose="02020500000000000000" pitchFamily="18" charset="-12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8D39346-367F-2D4F-D6DC-FD62C4EE9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2225"/>
            <a:ext cx="8229600" cy="1139825"/>
          </a:xfrm>
        </p:spPr>
        <p:txBody>
          <a:bodyPr/>
          <a:lstStyle/>
          <a:p>
            <a:r>
              <a:rPr lang="en-US" altLang="zh-TW" sz="2800">
                <a:effectLst/>
                <a:ea typeface="新細明體" panose="02020500000000000000" pitchFamily="18" charset="-120"/>
              </a:rPr>
              <a:t>COMPUTATIONAL INTELLIGENCE</a:t>
            </a:r>
            <a:br>
              <a:rPr lang="en-US" altLang="zh-TW" sz="2800">
                <a:effectLst/>
                <a:ea typeface="新細明體" panose="02020500000000000000" pitchFamily="18" charset="-120"/>
              </a:rPr>
            </a:br>
            <a:r>
              <a:rPr lang="en-US" altLang="zh-TW" sz="2800">
                <a:effectLst/>
                <a:ea typeface="新細明體" panose="02020500000000000000" pitchFamily="18" charset="-120"/>
              </a:rPr>
              <a:t>Statement of Problem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C8FE674-BFF1-A82E-E0FB-A40C003B6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62050"/>
            <a:ext cx="8713787" cy="4530725"/>
          </a:xfrm>
        </p:spPr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altLang="zh-TW" sz="2800">
                <a:effectLst/>
                <a:ea typeface="新細明體" panose="02020500000000000000" pitchFamily="18" charset="-120"/>
              </a:rPr>
              <a:t>Goal: </a:t>
            </a:r>
            <a:r>
              <a:rPr lang="en-US" altLang="zh-TW" sz="2800" i="1">
                <a:effectLst/>
                <a:ea typeface="新細明體" panose="02020500000000000000" pitchFamily="18" charset="-120"/>
              </a:rPr>
              <a:t>Problem Solving</a:t>
            </a:r>
          </a:p>
          <a:p>
            <a:pPr algn="l" rtl="0">
              <a:lnSpc>
                <a:spcPct val="90000"/>
              </a:lnSpc>
            </a:pPr>
            <a:r>
              <a:rPr lang="en-US" altLang="zh-TW" sz="2800" i="1">
                <a:effectLst/>
                <a:ea typeface="新細明體" panose="02020500000000000000" pitchFamily="18" charset="-120"/>
              </a:rPr>
              <a:t>Given a set of </a:t>
            </a:r>
            <a:r>
              <a:rPr lang="en-US" altLang="zh-TW" sz="2800" i="1">
                <a:solidFill>
                  <a:srgbClr val="FF0000"/>
                </a:solidFill>
                <a:effectLst/>
                <a:ea typeface="新細明體" panose="02020500000000000000" pitchFamily="18" charset="-120"/>
              </a:rPr>
              <a:t>data</a:t>
            </a:r>
            <a:r>
              <a:rPr lang="en-US" altLang="zh-TW" sz="2800" i="1">
                <a:effectLst/>
                <a:ea typeface="新細明體" panose="02020500000000000000" pitchFamily="18" charset="-120"/>
              </a:rPr>
              <a:t> collected (or measured) from a system (probably an unknown system), devise a </a:t>
            </a:r>
            <a:r>
              <a:rPr lang="en-US" altLang="zh-TW" sz="2800" i="1">
                <a:solidFill>
                  <a:srgbClr val="FF0000"/>
                </a:solidFill>
                <a:effectLst/>
                <a:ea typeface="新細明體" panose="02020500000000000000" pitchFamily="18" charset="-120"/>
              </a:rPr>
              <a:t>model</a:t>
            </a:r>
            <a:r>
              <a:rPr lang="en-US" altLang="zh-TW" sz="2800" i="1">
                <a:effectLst/>
                <a:ea typeface="新細明體" panose="02020500000000000000" pitchFamily="18" charset="-120"/>
              </a:rPr>
              <a:t> (by whatever structure, technique, method in CI) that </a:t>
            </a:r>
            <a:r>
              <a:rPr lang="en-US" altLang="zh-TW" sz="2800" i="1">
                <a:solidFill>
                  <a:srgbClr val="FF0000"/>
                </a:solidFill>
                <a:effectLst/>
                <a:ea typeface="新細明體" panose="02020500000000000000" pitchFamily="18" charset="-120"/>
              </a:rPr>
              <a:t>mimics</a:t>
            </a:r>
            <a:r>
              <a:rPr lang="en-US" altLang="zh-TW" sz="2800" i="1">
                <a:effectLst/>
                <a:ea typeface="新細明體" panose="02020500000000000000" pitchFamily="18" charset="-120"/>
              </a:rPr>
              <a:t> the behavior of that system as ‘</a:t>
            </a:r>
            <a:r>
              <a:rPr lang="en-US" altLang="zh-TW" sz="2800" i="1">
                <a:solidFill>
                  <a:srgbClr val="99FF99"/>
                </a:solidFill>
                <a:effectLst/>
                <a:ea typeface="新細明體" panose="02020500000000000000" pitchFamily="18" charset="-120"/>
              </a:rPr>
              <a:t>good</a:t>
            </a:r>
            <a:r>
              <a:rPr lang="en-US" altLang="zh-TW" sz="2800" i="1">
                <a:effectLst/>
                <a:ea typeface="新細明體" panose="02020500000000000000" pitchFamily="18" charset="-120"/>
              </a:rPr>
              <a:t>’ as possible</a:t>
            </a:r>
          </a:p>
          <a:p>
            <a:pPr algn="l" rtl="0">
              <a:lnSpc>
                <a:spcPct val="90000"/>
              </a:lnSpc>
            </a:pPr>
            <a:r>
              <a:rPr lang="en-US" altLang="zh-TW" sz="2800">
                <a:effectLst/>
                <a:ea typeface="新細明體" panose="02020500000000000000" pitchFamily="18" charset="-120"/>
              </a:rPr>
              <a:t>Making use of the devised model to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(1) interpret the behavior of the system,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(2) predict the future behavior of the system, 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(3) control the behavior of the system, 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(4) make money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E23DC326-ADE6-51A1-E93C-5BFBA0DD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ClrTx/>
              <a:buSzTx/>
              <a:buFontTx/>
              <a:buNone/>
            </a:pPr>
            <a:fld id="{6DC945D9-803F-458F-845C-860B4C8312B1}" type="slidenum">
              <a:rPr lang="en-US" altLang="zh-TW" sz="1000">
                <a:effectLst/>
                <a:ea typeface="新細明體" panose="02020500000000000000" pitchFamily="18" charset="-120"/>
              </a:rPr>
              <a:pPr rtl="0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000">
              <a:effectLst/>
              <a:ea typeface="新細明體" panose="02020500000000000000" pitchFamily="18" charset="-12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E39555D-0FBA-FBA0-9AC4-7955D47B6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5138" y="0"/>
            <a:ext cx="8229600" cy="1139825"/>
          </a:xfrm>
        </p:spPr>
        <p:txBody>
          <a:bodyPr/>
          <a:lstStyle/>
          <a:p>
            <a:r>
              <a:rPr lang="en-US" altLang="zh-TW" sz="3800">
                <a:effectLst/>
                <a:ea typeface="新細明體" panose="02020500000000000000" pitchFamily="18" charset="-120"/>
              </a:rPr>
              <a:t>METHODOLOGY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439041B-6293-DAE7-5D7C-EFE366A89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altLang="zh-TW" sz="2800">
                <a:effectLst/>
                <a:ea typeface="新細明體" panose="02020500000000000000" pitchFamily="18" charset="-120"/>
              </a:rPr>
              <a:t>Step 1: Data Collection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Experiments or measurements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Questionnaire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Magazine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Public data sets</a:t>
            </a:r>
          </a:p>
          <a:p>
            <a:pPr algn="l" rtl="0"/>
            <a:endParaRPr lang="en-US" altLang="zh-TW" sz="2800">
              <a:effectLst/>
              <a:ea typeface="新細明體" panose="02020500000000000000" pitchFamily="18" charset="-120"/>
            </a:endParaRPr>
          </a:p>
          <a:p>
            <a:pPr algn="l" rtl="0"/>
            <a:r>
              <a:rPr lang="en-US" altLang="zh-TW" sz="2800">
                <a:effectLst/>
                <a:ea typeface="新細明體" panose="02020500000000000000" pitchFamily="18" charset="-120"/>
              </a:rPr>
              <a:t>Step 2: Model Structure Assumption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IF it is known, SKIP this step.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ELSE, DEFINE a model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B5F7A20B-97D8-6843-9FBA-BB62540F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ClrTx/>
              <a:buSzTx/>
              <a:buFontTx/>
              <a:buNone/>
            </a:pPr>
            <a:fld id="{6DC8D73D-673A-44A4-9885-BFEB9FC0E77B}" type="slidenum">
              <a:rPr lang="en-US" altLang="zh-TW" sz="1000">
                <a:effectLst/>
                <a:ea typeface="新細明體" panose="02020500000000000000" pitchFamily="18" charset="-120"/>
              </a:rPr>
              <a:pPr rtl="0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000">
              <a:effectLst/>
              <a:ea typeface="新細明體" panose="02020500000000000000" pitchFamily="18" charset="-12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634B89C-E935-EB05-901F-13028381B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r>
              <a:rPr lang="en-US" altLang="zh-TW" sz="3800">
                <a:effectLst/>
                <a:ea typeface="新細明體" panose="02020500000000000000" pitchFamily="18" charset="-120"/>
              </a:rPr>
              <a:t>METHODOLOGY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99E5012-0080-D7AE-1574-21E28F6A9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altLang="zh-TW" sz="2800">
                <a:effectLst/>
                <a:ea typeface="新細明體" panose="02020500000000000000" pitchFamily="18" charset="-120"/>
              </a:rPr>
              <a:t>Step 3: Parametric Estimation 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Gradient descent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Newton’s method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Exhaustive search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Genetic algorithms (*)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Evolutionary algorithms (*)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Swarm intelligence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Simulated annealing (*)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Markov Chain Monte Carlo (*)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889D9B06-FE9B-63C0-736B-53460D69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ClrTx/>
              <a:buSzTx/>
              <a:buFontTx/>
              <a:buNone/>
            </a:pPr>
            <a:fld id="{D91645EE-4738-4E69-908F-E579982BE4FC}" type="slidenum">
              <a:rPr lang="en-US" altLang="zh-TW" sz="1000">
                <a:effectLst/>
                <a:ea typeface="新細明體" panose="02020500000000000000" pitchFamily="18" charset="-120"/>
              </a:rPr>
              <a:pPr rtl="0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000">
              <a:effectLst/>
              <a:ea typeface="新細明體" panose="02020500000000000000" pitchFamily="18" charset="-12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A5C8316-6EFD-9474-6B1C-D3AE52ED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229600" cy="1139825"/>
          </a:xfrm>
        </p:spPr>
        <p:txBody>
          <a:bodyPr/>
          <a:lstStyle/>
          <a:p>
            <a:r>
              <a:rPr lang="en-US" altLang="zh-TW" sz="3800">
                <a:effectLst/>
                <a:ea typeface="新細明體" panose="02020500000000000000" pitchFamily="18" charset="-120"/>
              </a:rPr>
              <a:t>METHODOLOGY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10F8524-E503-59FA-833C-25CDE3AB7E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lnSpc>
                <a:spcPct val="90000"/>
              </a:lnSpc>
            </a:pPr>
            <a:r>
              <a:rPr lang="en-US" altLang="zh-TW" sz="2800">
                <a:effectLst/>
                <a:ea typeface="新細明體" panose="02020500000000000000" pitchFamily="18" charset="-120"/>
              </a:rPr>
              <a:t>Step 4: Model Validation (is it a reasonable good model)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Hypothesis test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Validation/Testing set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Leave one out validation</a:t>
            </a:r>
          </a:p>
          <a:p>
            <a:pPr algn="l" rtl="0">
              <a:lnSpc>
                <a:spcPct val="90000"/>
              </a:lnSpc>
            </a:pPr>
            <a:endParaRPr lang="en-US" altLang="zh-TW" sz="2800">
              <a:effectLst/>
              <a:ea typeface="新細明體" panose="02020500000000000000" pitchFamily="18" charset="-120"/>
            </a:endParaRPr>
          </a:p>
          <a:p>
            <a:pPr algn="l" rtl="0">
              <a:lnSpc>
                <a:spcPct val="90000"/>
              </a:lnSpc>
            </a:pPr>
            <a:r>
              <a:rPr lang="en-US" altLang="zh-TW" sz="2800">
                <a:effectLst/>
                <a:ea typeface="新細明體" panose="02020500000000000000" pitchFamily="18" charset="-120"/>
              </a:rPr>
              <a:t>Step 5: Model Reduction (would there be a simpler model that is also reasonable good)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AIC, BIC, MDL</a:t>
            </a:r>
          </a:p>
          <a:p>
            <a:pPr lvl="1" algn="l" rtl="0">
              <a:lnSpc>
                <a:spcPct val="90000"/>
              </a:lnSpc>
            </a:pPr>
            <a:r>
              <a:rPr lang="en-US" altLang="zh-TW" sz="2400">
                <a:effectLst/>
                <a:ea typeface="新細明體" panose="02020500000000000000" pitchFamily="18" charset="-120"/>
              </a:rPr>
              <a:t>Pruning (using testing set)</a:t>
            </a:r>
          </a:p>
          <a:p>
            <a:pPr algn="l" rtl="0">
              <a:lnSpc>
                <a:spcPct val="90000"/>
              </a:lnSpc>
            </a:pPr>
            <a:endParaRPr lang="en-US" altLang="zh-TW" sz="2800">
              <a:effectLst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1E15D8F3-865F-1E19-B437-9D8C3679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ClrTx/>
              <a:buSzTx/>
              <a:buFontTx/>
              <a:buNone/>
            </a:pPr>
            <a:fld id="{39460972-A2F6-480C-B541-5AA17B6753D8}" type="slidenum">
              <a:rPr lang="en-US" altLang="zh-TW" sz="1000">
                <a:effectLst/>
                <a:ea typeface="新細明體" panose="02020500000000000000" pitchFamily="18" charset="-120"/>
              </a:rPr>
              <a:pPr rtl="0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000">
              <a:effectLst/>
              <a:ea typeface="新細明體" panose="02020500000000000000" pitchFamily="18" charset="-12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D333E99-E250-08EC-C917-82A7A8D8D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5138" y="0"/>
            <a:ext cx="8229600" cy="1139825"/>
          </a:xfrm>
        </p:spPr>
        <p:txBody>
          <a:bodyPr/>
          <a:lstStyle/>
          <a:p>
            <a:r>
              <a:rPr lang="en-US" altLang="zh-TW" sz="3800">
                <a:effectLst/>
                <a:ea typeface="新細明體" panose="02020500000000000000" pitchFamily="18" charset="-120"/>
              </a:rPr>
              <a:t>METHODOLOGY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A3F7A39-5730-C424-A0DA-39C2572C6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altLang="zh-TW">
                <a:effectLst/>
                <a:ea typeface="新細明體" panose="02020500000000000000" pitchFamily="18" charset="-120"/>
              </a:rPr>
              <a:t>Beyond Model Reduction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Any redundant input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Any redundant sample (or outlier)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Any better structure (alternative)</a:t>
            </a:r>
          </a:p>
          <a:p>
            <a:pPr lvl="1" algn="l" rtl="0"/>
            <a:r>
              <a:rPr lang="en-US" altLang="zh-TW">
                <a:effectLst/>
                <a:ea typeface="新細明體" panose="02020500000000000000" pitchFamily="18" charset="-120"/>
              </a:rPr>
              <a:t>How do we determine a ‘good’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98583F93-41F7-2FA1-92AF-59A9467A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ClrTx/>
              <a:buSzTx/>
              <a:buFontTx/>
              <a:buNone/>
            </a:pPr>
            <a:fld id="{4C55FFEE-639B-443E-A107-DB0A4C58E7E4}" type="slidenum">
              <a:rPr lang="en-US" altLang="zh-TW" sz="1000">
                <a:effectLst/>
                <a:ea typeface="新細明體" panose="02020500000000000000" pitchFamily="18" charset="-120"/>
              </a:rPr>
              <a:pPr rtl="0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000">
              <a:effectLst/>
              <a:ea typeface="新細明體" panose="02020500000000000000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CEC3269-4910-8FA8-8D29-5725AE3FA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r>
              <a:rPr lang="en-US" altLang="zh-TW" sz="3800">
                <a:effectLst/>
                <a:ea typeface="新細明體" panose="02020500000000000000" pitchFamily="18" charset="-120"/>
              </a:rPr>
              <a:t>CONCLUSIONS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2226AFA-D2BC-9C9D-5C58-3F41EFB96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altLang="zh-TW" sz="2800">
                <a:effectLst/>
                <a:ea typeface="新細明體" panose="02020500000000000000" pitchFamily="18" charset="-120"/>
              </a:rPr>
              <a:t>IF 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The problem to be solved has been well formulated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The structure has been selected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The objective function to evaluation the goodness of a parametric vector has been defined</a:t>
            </a:r>
          </a:p>
          <a:p>
            <a:pPr algn="l" rtl="0"/>
            <a:endParaRPr lang="en-US" altLang="zh-TW" sz="2800">
              <a:effectLst/>
              <a:ea typeface="新細明體" panose="02020500000000000000" pitchFamily="18" charset="-120"/>
            </a:endParaRPr>
          </a:p>
          <a:p>
            <a:pPr algn="l" rtl="0"/>
            <a:r>
              <a:rPr lang="en-US" altLang="zh-TW" sz="2800">
                <a:effectLst/>
                <a:ea typeface="新細明體" panose="02020500000000000000" pitchFamily="18" charset="-120"/>
              </a:rPr>
              <a:t>THEN </a:t>
            </a:r>
          </a:p>
          <a:p>
            <a:pPr lvl="1" algn="l" rtl="0"/>
            <a:r>
              <a:rPr lang="en-US" altLang="zh-TW" sz="2400">
                <a:effectLst/>
                <a:ea typeface="新細明體" panose="02020500000000000000" pitchFamily="18" charset="-120"/>
              </a:rPr>
              <a:t>Every problem is just an optimization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16">
      <a:dk1>
        <a:srgbClr val="000099"/>
      </a:dk1>
      <a:lt1>
        <a:srgbClr val="FFFFFF"/>
      </a:lt1>
      <a:dk2>
        <a:srgbClr val="FF3300"/>
      </a:dk2>
      <a:lt2>
        <a:srgbClr val="C11577"/>
      </a:lt2>
      <a:accent1>
        <a:srgbClr val="33CCCC"/>
      </a:accent1>
      <a:accent2>
        <a:srgbClr val="66CCFF"/>
      </a:accent2>
      <a:accent3>
        <a:srgbClr val="FFFFFF"/>
      </a:accent3>
      <a:accent4>
        <a:srgbClr val="000082"/>
      </a:accent4>
      <a:accent5>
        <a:srgbClr val="ADE2E2"/>
      </a:accent5>
      <a:accent6>
        <a:srgbClr val="5CB9E7"/>
      </a:accent6>
      <a:hlink>
        <a:srgbClr val="A50021"/>
      </a:hlink>
      <a:folHlink>
        <a:srgbClr val="800000"/>
      </a:folHlink>
    </a:clrScheme>
    <a:fontScheme name="Globe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0099"/>
        </a:dk1>
        <a:lt1>
          <a:srgbClr val="FFCCFF"/>
        </a:lt1>
        <a:dk2>
          <a:srgbClr val="FF6600"/>
        </a:dk2>
        <a:lt2>
          <a:srgbClr val="7EFEEF"/>
        </a:lt2>
        <a:accent1>
          <a:srgbClr val="33CCCC"/>
        </a:accent1>
        <a:accent2>
          <a:srgbClr val="66CCFF"/>
        </a:accent2>
        <a:accent3>
          <a:srgbClr val="FFE2FF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0">
        <a:dk1>
          <a:srgbClr val="000099"/>
        </a:dk1>
        <a:lt1>
          <a:srgbClr val="FFCCFF"/>
        </a:lt1>
        <a:dk2>
          <a:srgbClr val="FF6600"/>
        </a:dk2>
        <a:lt2>
          <a:srgbClr val="7EFEEF"/>
        </a:lt2>
        <a:accent1>
          <a:srgbClr val="33CCCC"/>
        </a:accent1>
        <a:accent2>
          <a:srgbClr val="66CCFF"/>
        </a:accent2>
        <a:accent3>
          <a:srgbClr val="FFE2FF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FF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1">
        <a:dk1>
          <a:srgbClr val="000099"/>
        </a:dk1>
        <a:lt1>
          <a:srgbClr val="FFCCFF"/>
        </a:lt1>
        <a:dk2>
          <a:srgbClr val="FF6600"/>
        </a:dk2>
        <a:lt2>
          <a:srgbClr val="7EFEEF"/>
        </a:lt2>
        <a:accent1>
          <a:srgbClr val="33CCCC"/>
        </a:accent1>
        <a:accent2>
          <a:srgbClr val="66CCFF"/>
        </a:accent2>
        <a:accent3>
          <a:srgbClr val="FFE2FF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2">
        <a:dk1>
          <a:srgbClr val="000099"/>
        </a:dk1>
        <a:lt1>
          <a:srgbClr val="FFFFCC"/>
        </a:lt1>
        <a:dk2>
          <a:srgbClr val="FF6600"/>
        </a:dk2>
        <a:lt2>
          <a:srgbClr val="7EFEEF"/>
        </a:lt2>
        <a:accent1>
          <a:srgbClr val="33CCCC"/>
        </a:accent1>
        <a:accent2>
          <a:srgbClr val="66CCFF"/>
        </a:accent2>
        <a:accent3>
          <a:srgbClr val="FFFFE2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3">
        <a:dk1>
          <a:srgbClr val="000099"/>
        </a:dk1>
        <a:lt1>
          <a:srgbClr val="FFFFCC"/>
        </a:lt1>
        <a:dk2>
          <a:srgbClr val="FF6600"/>
        </a:dk2>
        <a:lt2>
          <a:srgbClr val="3D14C2"/>
        </a:lt2>
        <a:accent1>
          <a:srgbClr val="33CCCC"/>
        </a:accent1>
        <a:accent2>
          <a:srgbClr val="66CCFF"/>
        </a:accent2>
        <a:accent3>
          <a:srgbClr val="FFFFE2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4">
        <a:dk1>
          <a:srgbClr val="000099"/>
        </a:dk1>
        <a:lt1>
          <a:srgbClr val="CCECFF"/>
        </a:lt1>
        <a:dk2>
          <a:srgbClr val="FF6600"/>
        </a:dk2>
        <a:lt2>
          <a:srgbClr val="C11577"/>
        </a:lt2>
        <a:accent1>
          <a:srgbClr val="33CCCC"/>
        </a:accent1>
        <a:accent2>
          <a:srgbClr val="66CCFF"/>
        </a:accent2>
        <a:accent3>
          <a:srgbClr val="E2F4FF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5">
        <a:dk1>
          <a:srgbClr val="000099"/>
        </a:dk1>
        <a:lt1>
          <a:srgbClr val="CCECFF"/>
        </a:lt1>
        <a:dk2>
          <a:srgbClr val="FF3300"/>
        </a:dk2>
        <a:lt2>
          <a:srgbClr val="C11577"/>
        </a:lt2>
        <a:accent1>
          <a:srgbClr val="33CCCC"/>
        </a:accent1>
        <a:accent2>
          <a:srgbClr val="66CCFF"/>
        </a:accent2>
        <a:accent3>
          <a:srgbClr val="E2F4FF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6">
        <a:dk1>
          <a:srgbClr val="000099"/>
        </a:dk1>
        <a:lt1>
          <a:srgbClr val="FFFFFF"/>
        </a:lt1>
        <a:dk2>
          <a:srgbClr val="FF3300"/>
        </a:dk2>
        <a:lt2>
          <a:srgbClr val="C11577"/>
        </a:lt2>
        <a:accent1>
          <a:srgbClr val="33CCCC"/>
        </a:accent1>
        <a:accent2>
          <a:srgbClr val="66CCFF"/>
        </a:accent2>
        <a:accent3>
          <a:srgbClr val="FFFFFF"/>
        </a:accent3>
        <a:accent4>
          <a:srgbClr val="000082"/>
        </a:accent4>
        <a:accent5>
          <a:srgbClr val="ADE2E2"/>
        </a:accent5>
        <a:accent6>
          <a:srgbClr val="5CB9E7"/>
        </a:accent6>
        <a:hlink>
          <a:srgbClr val="A50021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4581</TotalTime>
  <Words>482</Words>
  <Application>Microsoft Office PowerPoint</Application>
  <PresentationFormat>On-screen Show (4:3)</PresentationFormat>
  <Paragraphs>115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Verdana</vt:lpstr>
      <vt:lpstr>Arial</vt:lpstr>
      <vt:lpstr>Wingdings</vt:lpstr>
      <vt:lpstr>Yagut</vt:lpstr>
      <vt:lpstr>Arial Unicode MS</vt:lpstr>
      <vt:lpstr>B Nazanin</vt:lpstr>
      <vt:lpstr>Courier New</vt:lpstr>
      <vt:lpstr>Cooper Black</vt:lpstr>
      <vt:lpstr>Nasim</vt:lpstr>
      <vt:lpstr>新細明體</vt:lpstr>
      <vt:lpstr>Globe</vt:lpstr>
      <vt:lpstr>رايانش نرم، هوش محاسباتی</vt:lpstr>
      <vt:lpstr>What kind of science?</vt:lpstr>
      <vt:lpstr>Biological inspiration</vt:lpstr>
      <vt:lpstr>HISTORY</vt:lpstr>
      <vt:lpstr>HISTORY</vt:lpstr>
      <vt:lpstr>COMPUTATIONAL INTELLIGENCE</vt:lpstr>
      <vt:lpstr>COMPUTATIONAL INTELLIGENCE</vt:lpstr>
      <vt:lpstr>COMPUTATIONAL INTELLIGENCE Statement of Problem</vt:lpstr>
      <vt:lpstr>METHODOLOGY</vt:lpstr>
      <vt:lpstr>METHODOLOGY</vt:lpstr>
      <vt:lpstr>METHODOLOGY</vt:lpstr>
      <vt:lpstr>METHODOLOGY</vt:lpstr>
      <vt:lpstr>CONCLUSIONS</vt:lpstr>
    </vt:vector>
  </TitlesOfParts>
  <Company>iust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systems</dc:title>
  <dc:creator>library</dc:creator>
  <cp:lastModifiedBy>mahdi amrollahi</cp:lastModifiedBy>
  <cp:revision>210</cp:revision>
  <cp:lastPrinted>1601-01-01T00:00:00Z</cp:lastPrinted>
  <dcterms:created xsi:type="dcterms:W3CDTF">2002-09-22T08:27:22Z</dcterms:created>
  <dcterms:modified xsi:type="dcterms:W3CDTF">2025-11-20T22:01:04Z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8</vt:i4>
  </property>
</Properties>
</file>